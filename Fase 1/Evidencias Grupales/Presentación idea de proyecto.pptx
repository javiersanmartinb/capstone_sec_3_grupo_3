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6858000" cx="9144000"/>
  <p:notesSz cx="6858000" cy="9144000"/>
  <p:embeddedFontLst>
    <p:embeddedFont>
      <p:font typeface="Constantia"/>
      <p:regular r:id="rId14"/>
      <p:bold r:id="rId15"/>
      <p:italic r:id="rId16"/>
      <p:boldItalic r:id="rId17"/>
    </p:embeddedFont>
    <p:embeddedFont>
      <p:font typeface="Old Standard TT"/>
      <p:regular r:id="rId18"/>
      <p:bold r:id="rId19"/>
      <p: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1" roundtripDataSignature="AMtx7mjEjjkWYYpQKIS4U21RYpIofcRWk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ldStandardTT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Constantia-bold.fntdata"/><Relationship Id="rId14" Type="http://schemas.openxmlformats.org/officeDocument/2006/relationships/font" Target="fonts/Constantia-regular.fntdata"/><Relationship Id="rId17" Type="http://schemas.openxmlformats.org/officeDocument/2006/relationships/font" Target="fonts/Constantia-boldItalic.fntdata"/><Relationship Id="rId16" Type="http://schemas.openxmlformats.org/officeDocument/2006/relationships/font" Target="fonts/Constantia-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OldStandardTT-bold.fntdata"/><Relationship Id="rId6" Type="http://schemas.openxmlformats.org/officeDocument/2006/relationships/slide" Target="slides/slide1.xml"/><Relationship Id="rId18" Type="http://schemas.openxmlformats.org/officeDocument/2006/relationships/font" Target="fonts/OldStandardTT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f9f68e02ae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f9f68e02a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f9f68e02ae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f9f68e02ae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f9f68e02ae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f9f68e02ae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f9f68e02ae_0_1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f9f68e02ae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f9f68e02ae_0_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f9f68e02ae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f9f68e02ae_0_2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f9f68e02ae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f9f68e02ae_0_3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f9f68e02ae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f9f68e02ae_0_230"/>
          <p:cNvSpPr/>
          <p:nvPr/>
        </p:nvSpPr>
        <p:spPr>
          <a:xfrm>
            <a:off x="0" y="133"/>
            <a:ext cx="9144000" cy="2282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" name="Google Shape;11;g3f9f68e02ae_0_230"/>
          <p:cNvCxnSpPr/>
          <p:nvPr/>
        </p:nvCxnSpPr>
        <p:spPr>
          <a:xfrm>
            <a:off x="641934" y="4796667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" name="Google Shape;12;g3f9f68e02ae_0_230"/>
          <p:cNvSpPr txBox="1"/>
          <p:nvPr>
            <p:ph type="ctrTitle"/>
          </p:nvPr>
        </p:nvSpPr>
        <p:spPr>
          <a:xfrm>
            <a:off x="512700" y="2524400"/>
            <a:ext cx="8118600" cy="203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" name="Google Shape;13;g3f9f68e02ae_0_230"/>
          <p:cNvSpPr txBox="1"/>
          <p:nvPr>
            <p:ph idx="1" type="subTitle"/>
          </p:nvPr>
        </p:nvSpPr>
        <p:spPr>
          <a:xfrm>
            <a:off x="512700" y="5120852"/>
            <a:ext cx="8118600" cy="105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4" name="Google Shape;14;g3f9f68e02ae_0_23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Google Shape;16;g3f9f68e02ae_0_236"/>
          <p:cNvCxnSpPr/>
          <p:nvPr/>
        </p:nvCxnSpPr>
        <p:spPr>
          <a:xfrm>
            <a:off x="641934" y="4796667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" name="Google Shape;17;g3f9f68e02ae_0_236"/>
          <p:cNvSpPr txBox="1"/>
          <p:nvPr>
            <p:ph type="title"/>
          </p:nvPr>
        </p:nvSpPr>
        <p:spPr>
          <a:xfrm>
            <a:off x="512700" y="2524400"/>
            <a:ext cx="8118600" cy="203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8" name="Google Shape;18;g3f9f68e02ae_0_23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f9f68e02ae_0_240"/>
          <p:cNvSpPr/>
          <p:nvPr/>
        </p:nvSpPr>
        <p:spPr>
          <a:xfrm>
            <a:off x="0" y="6727600"/>
            <a:ext cx="9144000" cy="130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g3f9f68e02ae_0_240"/>
          <p:cNvSpPr txBox="1"/>
          <p:nvPr>
            <p:ph type="title"/>
          </p:nvPr>
        </p:nvSpPr>
        <p:spPr>
          <a:xfrm>
            <a:off x="311700" y="593367"/>
            <a:ext cx="8520600" cy="81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g3f9f68e02ae_0_240"/>
          <p:cNvSpPr txBox="1"/>
          <p:nvPr>
            <p:ph idx="1" type="body"/>
          </p:nvPr>
        </p:nvSpPr>
        <p:spPr>
          <a:xfrm>
            <a:off x="311700" y="1562133"/>
            <a:ext cx="8520600" cy="452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g3f9f68e02ae_0_24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3f9f68e02ae_0_245"/>
          <p:cNvSpPr txBox="1"/>
          <p:nvPr>
            <p:ph type="title"/>
          </p:nvPr>
        </p:nvSpPr>
        <p:spPr>
          <a:xfrm>
            <a:off x="311700" y="593367"/>
            <a:ext cx="8520600" cy="81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g3f9f68e02ae_0_245"/>
          <p:cNvSpPr txBox="1"/>
          <p:nvPr>
            <p:ph idx="1" type="body"/>
          </p:nvPr>
        </p:nvSpPr>
        <p:spPr>
          <a:xfrm>
            <a:off x="311700" y="1562233"/>
            <a:ext cx="3999900" cy="452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g3f9f68e02ae_0_245"/>
          <p:cNvSpPr txBox="1"/>
          <p:nvPr>
            <p:ph idx="2" type="body"/>
          </p:nvPr>
        </p:nvSpPr>
        <p:spPr>
          <a:xfrm>
            <a:off x="4832400" y="1562233"/>
            <a:ext cx="3999900" cy="452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g3f9f68e02ae_0_24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g3f9f68e02ae_0_250"/>
          <p:cNvSpPr txBox="1"/>
          <p:nvPr>
            <p:ph type="title"/>
          </p:nvPr>
        </p:nvSpPr>
        <p:spPr>
          <a:xfrm>
            <a:off x="311700" y="593367"/>
            <a:ext cx="8520600" cy="81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g3f9f68e02ae_0_25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3f9f68e02ae_0_253"/>
          <p:cNvSpPr txBox="1"/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g3f9f68e02ae_0_253"/>
          <p:cNvSpPr txBox="1"/>
          <p:nvPr>
            <p:ph idx="1" type="body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g3f9f68e02ae_0_25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g3f9f68e02ae_0_257"/>
          <p:cNvSpPr txBox="1"/>
          <p:nvPr>
            <p:ph type="title"/>
          </p:nvPr>
        </p:nvSpPr>
        <p:spPr>
          <a:xfrm>
            <a:off x="490250" y="701800"/>
            <a:ext cx="5604000" cy="54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8" name="Google Shape;38;g3f9f68e02ae_0_25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3f9f68e02ae_0_260"/>
          <p:cNvSpPr/>
          <p:nvPr/>
        </p:nvSpPr>
        <p:spPr>
          <a:xfrm>
            <a:off x="4572000" y="-33"/>
            <a:ext cx="4572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g3f9f68e02ae_0_260"/>
          <p:cNvCxnSpPr/>
          <p:nvPr/>
        </p:nvCxnSpPr>
        <p:spPr>
          <a:xfrm>
            <a:off x="5029675" y="5994000"/>
            <a:ext cx="6864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g3f9f68e02ae_0_260"/>
          <p:cNvSpPr txBox="1"/>
          <p:nvPr>
            <p:ph type="title"/>
          </p:nvPr>
        </p:nvSpPr>
        <p:spPr>
          <a:xfrm>
            <a:off x="265500" y="1843133"/>
            <a:ext cx="4045200" cy="177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3" name="Google Shape;43;g3f9f68e02ae_0_260"/>
          <p:cNvSpPr txBox="1"/>
          <p:nvPr>
            <p:ph idx="1" type="subTitle"/>
          </p:nvPr>
        </p:nvSpPr>
        <p:spPr>
          <a:xfrm>
            <a:off x="265500" y="3692001"/>
            <a:ext cx="4045200" cy="179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4" name="Google Shape;44;g3f9f68e02ae_0_260"/>
          <p:cNvSpPr txBox="1"/>
          <p:nvPr>
            <p:ph idx="2" type="body"/>
          </p:nvPr>
        </p:nvSpPr>
        <p:spPr>
          <a:xfrm>
            <a:off x="4939500" y="965600"/>
            <a:ext cx="3837000" cy="492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45" name="Google Shape;45;g3f9f68e02ae_0_26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3f9f68e02ae_0_267"/>
          <p:cNvSpPr txBox="1"/>
          <p:nvPr>
            <p:ph idx="1" type="body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8" name="Google Shape;48;g3f9f68e02ae_0_26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3f9f68e02ae_0_270"/>
          <p:cNvSpPr txBox="1"/>
          <p:nvPr>
            <p:ph hasCustomPrompt="1" type="title"/>
          </p:nvPr>
        </p:nvSpPr>
        <p:spPr>
          <a:xfrm>
            <a:off x="311700" y="1386200"/>
            <a:ext cx="8520600" cy="2808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g3f9f68e02ae_0_270"/>
          <p:cNvSpPr txBox="1"/>
          <p:nvPr>
            <p:ph idx="1" type="body"/>
          </p:nvPr>
        </p:nvSpPr>
        <p:spPr>
          <a:xfrm>
            <a:off x="311700" y="4304567"/>
            <a:ext cx="8520600" cy="17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g3f9f68e02ae_0_27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3f9f68e02ae_0_27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f9f68e02ae_0_276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7" name="Google Shape;57;g3f9f68e02ae_0_276"/>
          <p:cNvSpPr txBox="1"/>
          <p:nvPr>
            <p:ph idx="1" type="body"/>
          </p:nvPr>
        </p:nvSpPr>
        <p:spPr>
          <a:xfrm>
            <a:off x="457200" y="1935480"/>
            <a:ext cx="8229600" cy="43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7185" lvl="0" marL="457200" algn="l">
              <a:spcBef>
                <a:spcPts val="360"/>
              </a:spcBef>
              <a:spcAft>
                <a:spcPts val="0"/>
              </a:spcAft>
              <a:buSzPts val="1710"/>
              <a:buChar char="●"/>
              <a:defRPr/>
            </a:lvl1pPr>
            <a:lvl2pPr indent="-325755" lvl="1" marL="914400" algn="l">
              <a:spcBef>
                <a:spcPts val="1200"/>
              </a:spcBef>
              <a:spcAft>
                <a:spcPts val="0"/>
              </a:spcAft>
              <a:buSzPts val="1530"/>
              <a:buChar char="○"/>
              <a:defRPr/>
            </a:lvl2pPr>
            <a:lvl3pPr indent="-308610" lvl="2" marL="1371600" algn="l">
              <a:spcBef>
                <a:spcPts val="1200"/>
              </a:spcBef>
              <a:spcAft>
                <a:spcPts val="0"/>
              </a:spcAft>
              <a:buSzPts val="1260"/>
              <a:buChar char="■"/>
              <a:defRPr/>
            </a:lvl3pPr>
            <a:lvl4pPr indent="-302895" lvl="3" marL="1828800" algn="l">
              <a:spcBef>
                <a:spcPts val="1200"/>
              </a:spcBef>
              <a:spcAft>
                <a:spcPts val="0"/>
              </a:spcAft>
              <a:buSzPts val="1170"/>
              <a:buChar char="●"/>
              <a:defRPr/>
            </a:lvl4pPr>
            <a:lvl5pPr indent="-302895" lvl="4" marL="2286000" algn="l">
              <a:spcBef>
                <a:spcPts val="1200"/>
              </a:spcBef>
              <a:spcAft>
                <a:spcPts val="0"/>
              </a:spcAft>
              <a:buSzPts val="1170"/>
              <a:buChar char="○"/>
              <a:defRPr/>
            </a:lvl5pPr>
            <a:lvl6pPr indent="-320040" lvl="5" marL="2743200" algn="l">
              <a:spcBef>
                <a:spcPts val="1200"/>
              </a:spcBef>
              <a:spcAft>
                <a:spcPts val="0"/>
              </a:spcAft>
              <a:buSzPts val="1440"/>
              <a:buChar char="■"/>
              <a:defRPr/>
            </a:lvl6pPr>
            <a:lvl7pPr indent="-320040" lvl="6" marL="3200400" algn="l">
              <a:spcBef>
                <a:spcPts val="1200"/>
              </a:spcBef>
              <a:spcAft>
                <a:spcPts val="0"/>
              </a:spcAft>
              <a:buSzPts val="1440"/>
              <a:buChar char="●"/>
              <a:defRPr/>
            </a:lvl7pPr>
            <a:lvl8pPr indent="-342900" lvl="7" marL="3657600" algn="l"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spcBef>
                <a:spcPts val="1200"/>
              </a:spcBef>
              <a:spcAft>
                <a:spcPts val="120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58" name="Google Shape;58;g3f9f68e02ae_0_276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g3f9f68e02ae_0_276"/>
          <p:cNvSpPr txBox="1"/>
          <p:nvPr>
            <p:ph idx="11" type="ftr"/>
          </p:nvPr>
        </p:nvSpPr>
        <p:spPr>
          <a:xfrm>
            <a:off x="2667000" y="63563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g3f9f68e02ae_0_276"/>
          <p:cNvSpPr txBox="1"/>
          <p:nvPr>
            <p:ph idx="12" type="sldNum"/>
          </p:nvPr>
        </p:nvSpPr>
        <p:spPr>
          <a:xfrm>
            <a:off x="7924800" y="6356350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perback">
    <p:bg>
      <p:bgPr>
        <a:solidFill>
          <a:schemeClr val="accen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f9f68e02ae_0_226"/>
          <p:cNvSpPr txBox="1"/>
          <p:nvPr>
            <p:ph type="title"/>
          </p:nvPr>
        </p:nvSpPr>
        <p:spPr>
          <a:xfrm>
            <a:off x="311700" y="593367"/>
            <a:ext cx="8520600" cy="8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7" name="Google Shape;7;g3f9f68e02ae_0_226"/>
          <p:cNvSpPr txBox="1"/>
          <p:nvPr>
            <p:ph idx="1" type="body"/>
          </p:nvPr>
        </p:nvSpPr>
        <p:spPr>
          <a:xfrm>
            <a:off x="311700" y="1562133"/>
            <a:ext cx="8520600" cy="45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ld Standard TT"/>
              <a:buChar char="●"/>
              <a:defRPr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8" name="Google Shape;8;g3f9f68e02ae_0_22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jpg"/><Relationship Id="rId4" Type="http://schemas.openxmlformats.org/officeDocument/2006/relationships/image" Target="../media/image4.jp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1.jpg"/><Relationship Id="rId8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"/>
          <p:cNvSpPr txBox="1"/>
          <p:nvPr>
            <p:ph type="ctrTitle"/>
          </p:nvPr>
        </p:nvSpPr>
        <p:spPr>
          <a:xfrm>
            <a:off x="395536" y="764704"/>
            <a:ext cx="8496944" cy="243569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18275" wrap="square" tIns="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4CE0EA"/>
              </a:buClr>
              <a:buSzPts val="5400"/>
              <a:buFont typeface="Calibri"/>
              <a:buNone/>
            </a:pPr>
            <a:r>
              <a:rPr lang="es-CL" sz="5400"/>
              <a:t>CAPSTONE</a:t>
            </a:r>
            <a:br>
              <a:rPr lang="es-CL" sz="5400"/>
            </a:br>
            <a:r>
              <a:rPr lang="es-CL" sz="5400"/>
              <a:t>Ingeniería en Informática</a:t>
            </a:r>
            <a:endParaRPr/>
          </a:p>
        </p:txBody>
      </p:sp>
      <p:sp>
        <p:nvSpPr>
          <p:cNvPr id="66" name="Google Shape;66;p1"/>
          <p:cNvSpPr txBox="1"/>
          <p:nvPr/>
        </p:nvSpPr>
        <p:spPr>
          <a:xfrm>
            <a:off x="1290800" y="4246850"/>
            <a:ext cx="7203000" cy="22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Nombre del Proyecto : Huellas de Esperanza </a:t>
            </a:r>
            <a:endParaRPr b="1"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Integrantes : Javier San Martin ,  Italo Zapata</a:t>
            </a:r>
            <a:endParaRPr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Profesores : Jazna Meza , Juan Pablo Mellado</a:t>
            </a:r>
            <a:endParaRPr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Fecha : 07/09/2026</a:t>
            </a:r>
            <a:endParaRPr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f9f68e02ae_0_0"/>
          <p:cNvSpPr txBox="1"/>
          <p:nvPr>
            <p:ph type="ctrTitle"/>
          </p:nvPr>
        </p:nvSpPr>
        <p:spPr>
          <a:xfrm>
            <a:off x="1344750" y="484100"/>
            <a:ext cx="6454500" cy="1297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518"/>
              </a:spcBef>
              <a:spcAft>
                <a:spcPts val="0"/>
              </a:spcAft>
              <a:buNone/>
            </a:pPr>
            <a:r>
              <a:rPr b="1" lang="es-CL" sz="3000">
                <a:solidFill>
                  <a:schemeClr val="lt1"/>
                </a:solidFill>
              </a:rPr>
              <a:t>Descripción del Proyecto</a:t>
            </a:r>
            <a:endParaRPr b="1" sz="4400"/>
          </a:p>
        </p:txBody>
      </p:sp>
      <p:sp>
        <p:nvSpPr>
          <p:cNvPr id="72" name="Google Shape;72;g3f9f68e02ae_0_0"/>
          <p:cNvSpPr txBox="1"/>
          <p:nvPr>
            <p:ph idx="1" type="subTitle"/>
          </p:nvPr>
        </p:nvSpPr>
        <p:spPr>
          <a:xfrm>
            <a:off x="1152850" y="2541425"/>
            <a:ext cx="7244400" cy="410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444"/>
              </a:spcBef>
              <a:spcAft>
                <a:spcPts val="0"/>
              </a:spcAft>
              <a:buNone/>
            </a:pPr>
            <a:r>
              <a:rPr b="1" lang="es-CL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Problemática :</a:t>
            </a:r>
            <a:r>
              <a:rPr lang="es-CL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Actualmente en Chile existe una gran cantidad de animales que están situación de calle y muchos de los refugios que apoyan estos animales no poseen el recurso tecnológico.</a:t>
            </a:r>
            <a:endParaRPr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444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444"/>
              </a:spcBef>
              <a:spcAft>
                <a:spcPts val="0"/>
              </a:spcAft>
              <a:buNone/>
            </a:pPr>
            <a:r>
              <a:rPr b="1" lang="es-CL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Propuesta de Solución : </a:t>
            </a:r>
            <a:r>
              <a:rPr lang="es-CL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Una plataforma digital conectada con un refugio de animales, cuyo propósito será facilitar la gestión de animales en situación de calle, apoyar sus procesos de rescate y recuperación, promover su adopción y fomentar la colaboración de la comunidad.</a:t>
            </a:r>
            <a:endParaRPr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444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f9f68e02ae_0_5"/>
          <p:cNvSpPr txBox="1"/>
          <p:nvPr>
            <p:ph type="ctrTitle"/>
          </p:nvPr>
        </p:nvSpPr>
        <p:spPr>
          <a:xfrm>
            <a:off x="2412300" y="758100"/>
            <a:ext cx="4319400" cy="100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518"/>
              </a:spcBef>
              <a:spcAft>
                <a:spcPts val="0"/>
              </a:spcAft>
              <a:buNone/>
            </a:pPr>
            <a:r>
              <a:rPr b="0" lang="es-CL" sz="3000">
                <a:solidFill>
                  <a:schemeClr val="lt1"/>
                </a:solidFill>
              </a:rPr>
              <a:t>Objetivos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78" name="Google Shape;78;g3f9f68e02ae_0_5"/>
          <p:cNvSpPr txBox="1"/>
          <p:nvPr>
            <p:ph idx="1" type="subTitle"/>
          </p:nvPr>
        </p:nvSpPr>
        <p:spPr>
          <a:xfrm>
            <a:off x="1257875" y="2620050"/>
            <a:ext cx="7560600" cy="38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444"/>
              </a:spcBef>
              <a:spcAft>
                <a:spcPts val="0"/>
              </a:spcAft>
              <a:buNone/>
            </a:pPr>
            <a:r>
              <a:rPr lang="es-CL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Objetivo General : Crear una plataforma digital que facilite la gestión y coordinación de los servicios de un refugio de animales, apoyando el rescate, recuperación y adopción de animales en situación de calle, y fomentando la colaboración de la comunidad mediante donaciones, hogares temporales, atención veterinaria y espacios de participación.</a:t>
            </a:r>
            <a:endParaRPr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444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444"/>
              </a:spcBef>
              <a:spcAft>
                <a:spcPts val="0"/>
              </a:spcAft>
              <a:buNone/>
            </a:pPr>
            <a:r>
              <a:rPr lang="es-CL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Objetivos Específicos:</a:t>
            </a:r>
            <a:endParaRPr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4328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Char char="-"/>
            </a:pPr>
            <a:r>
              <a:rPr lang="es-CL" sz="1800">
                <a:solidFill>
                  <a:schemeClr val="lt1"/>
                </a:solidFill>
                <a:highlight>
                  <a:schemeClr val="dk1"/>
                </a:highlight>
                <a:latin typeface="Calibri"/>
                <a:ea typeface="Calibri"/>
                <a:cs typeface="Calibri"/>
                <a:sym typeface="Calibri"/>
              </a:rPr>
              <a:t>Incrementar en un 30% la cantidad de animales que logren ser vinculados con un proceso de adopción durante los primeros 3 meses de funcionamiento de la plataforma.</a:t>
            </a:r>
            <a:endParaRPr sz="1800">
              <a:solidFill>
                <a:schemeClr val="lt1"/>
              </a:solidFill>
              <a:highlight>
                <a:schemeClr val="dk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-334328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Char char="-"/>
            </a:pPr>
            <a:r>
              <a:rPr lang="es-CL" sz="1800">
                <a:solidFill>
                  <a:schemeClr val="lt1"/>
                </a:solidFill>
                <a:highlight>
                  <a:schemeClr val="dk1"/>
                </a:highlight>
                <a:latin typeface="Calibri"/>
                <a:ea typeface="Calibri"/>
                <a:cs typeface="Calibri"/>
                <a:sym typeface="Calibri"/>
              </a:rPr>
              <a:t>Alcanzar al menos un 70% de seguimiento de los procesos de adopción iniciados a través de la plataforma durante los primeros 3 meses.</a:t>
            </a:r>
            <a:endParaRPr sz="1800">
              <a:solidFill>
                <a:schemeClr val="lt1"/>
              </a:solidFill>
              <a:highlight>
                <a:schemeClr val="dk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-334328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Char char="-"/>
            </a:pPr>
            <a:r>
              <a:rPr lang="es-CL" sz="1800">
                <a:solidFill>
                  <a:schemeClr val="lt1"/>
                </a:solidFill>
                <a:highlight>
                  <a:schemeClr val="dk1"/>
                </a:highlight>
                <a:latin typeface="Calibri"/>
                <a:ea typeface="Calibri"/>
                <a:cs typeface="Calibri"/>
                <a:sym typeface="Calibri"/>
              </a:rPr>
              <a:t>Lograr que al menos 30 hogares temporales se incorporen a la plataforma durante los primeros 3 meses, considerando su capacidad y disponibilidad.</a:t>
            </a:r>
            <a:endParaRPr sz="1800">
              <a:solidFill>
                <a:schemeClr val="lt1"/>
              </a:solidFill>
              <a:highlight>
                <a:schemeClr val="dk1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f9f68e02ae_0_12"/>
          <p:cNvSpPr txBox="1"/>
          <p:nvPr>
            <p:ph type="ctrTitle"/>
          </p:nvPr>
        </p:nvSpPr>
        <p:spPr>
          <a:xfrm>
            <a:off x="2019750" y="670900"/>
            <a:ext cx="5104500" cy="125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518"/>
              </a:spcBef>
              <a:spcAft>
                <a:spcPts val="0"/>
              </a:spcAft>
              <a:buNone/>
            </a:pPr>
            <a:r>
              <a:rPr b="0" lang="es-CL" sz="3000">
                <a:solidFill>
                  <a:schemeClr val="lt1"/>
                </a:solidFill>
              </a:rPr>
              <a:t>Alcances y Limitaciones</a:t>
            </a:r>
            <a:endParaRPr sz="3000">
              <a:solidFill>
                <a:schemeClr val="lt1"/>
              </a:solidFill>
            </a:endParaRPr>
          </a:p>
        </p:txBody>
      </p:sp>
      <p:sp>
        <p:nvSpPr>
          <p:cNvPr id="84" name="Google Shape;84;g3f9f68e02ae_0_12"/>
          <p:cNvSpPr txBox="1"/>
          <p:nvPr>
            <p:ph idx="1" type="subTitle"/>
          </p:nvPr>
        </p:nvSpPr>
        <p:spPr>
          <a:xfrm>
            <a:off x="1236500" y="2850050"/>
            <a:ext cx="6556500" cy="169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b="1" lang="es-CL" sz="202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Alcance</a:t>
            </a:r>
            <a:r>
              <a:rPr lang="es-CL" sz="202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br>
              <a:rPr lang="es-CL" sz="202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CL" sz="202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Incluye siete módulos: Refugio, Adopción, Donación, Hogares temporales, Foro, Veterinarias e información y Reportes</a:t>
            </a:r>
            <a:br>
              <a:rPr lang="es-CL" sz="202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CL" sz="202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El sistema se despliega mediante Docker para portabilidad</a:t>
            </a:r>
            <a:endParaRPr sz="202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g3f9f68e02ae_0_12"/>
          <p:cNvSpPr txBox="1"/>
          <p:nvPr/>
        </p:nvSpPr>
        <p:spPr>
          <a:xfrm>
            <a:off x="1236500" y="4463525"/>
            <a:ext cx="6556500" cy="20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Limitaciones</a:t>
            </a:r>
            <a:r>
              <a:rPr lang="es-CL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El desarrollo está acotado a 12 semanas disponibles y un equipo de 2 integrantes.</a:t>
            </a:r>
            <a:endParaRPr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No se cuenta con acceso a un refugio real, el funcionamiento se simulará con datos representativos</a:t>
            </a:r>
            <a:endParaRPr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f9f68e02ae_0_19"/>
          <p:cNvSpPr txBox="1"/>
          <p:nvPr>
            <p:ph type="ctrTitle"/>
          </p:nvPr>
        </p:nvSpPr>
        <p:spPr>
          <a:xfrm>
            <a:off x="2946450" y="561875"/>
            <a:ext cx="3251100" cy="1176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518"/>
              </a:spcBef>
              <a:spcAft>
                <a:spcPts val="0"/>
              </a:spcAft>
              <a:buNone/>
            </a:pPr>
            <a:r>
              <a:rPr b="0" lang="es-CL" sz="3000">
                <a:solidFill>
                  <a:schemeClr val="lt1"/>
                </a:solidFill>
              </a:rPr>
              <a:t>Metodología</a:t>
            </a:r>
            <a:endParaRPr sz="3000">
              <a:solidFill>
                <a:schemeClr val="lt1"/>
              </a:solidFill>
            </a:endParaRPr>
          </a:p>
        </p:txBody>
      </p:sp>
      <p:sp>
        <p:nvSpPr>
          <p:cNvPr id="91" name="Google Shape;91;g3f9f68e02ae_0_19"/>
          <p:cNvSpPr txBox="1"/>
          <p:nvPr>
            <p:ph idx="1" type="subTitle"/>
          </p:nvPr>
        </p:nvSpPr>
        <p:spPr>
          <a:xfrm>
            <a:off x="1169225" y="2418075"/>
            <a:ext cx="7541100" cy="422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b="1" lang="es-CL" sz="20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Metodología:</a:t>
            </a:r>
            <a:r>
              <a:rPr lang="es-CL" sz="20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Scrum adaptado a un equipo de 2 integrantes, </a:t>
            </a:r>
            <a:endParaRPr sz="200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es-CL" sz="20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con </a:t>
            </a:r>
            <a:r>
              <a:rPr b="1" lang="es-CL" sz="20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sprints de 1–2 semanas durante 12 semanas</a:t>
            </a:r>
            <a:r>
              <a:rPr lang="es-CL" sz="20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endParaRPr sz="200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t/>
            </a:r>
            <a:endParaRPr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40"/>
              <a:buFont typeface="Arial"/>
              <a:buNone/>
            </a:pPr>
            <a:r>
              <a:rPr lang="es-CL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s-CL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Integrante 1 – Operación del refugio</a:t>
            </a:r>
            <a:endParaRPr b="1"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Char char="●"/>
            </a:pPr>
            <a:r>
              <a:rPr lang="es-CL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Refugio</a:t>
            </a:r>
            <a:endParaRPr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Char char="●"/>
            </a:pPr>
            <a:r>
              <a:rPr lang="es-CL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Adopción</a:t>
            </a:r>
            <a:endParaRPr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Char char="●"/>
            </a:pPr>
            <a:r>
              <a:rPr lang="es-CL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Información y Reportes</a:t>
            </a:r>
            <a:endParaRPr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40"/>
              <a:buFont typeface="Arial"/>
              <a:buNone/>
            </a:pPr>
            <a:r>
              <a:rPr lang="es-CL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s-CL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Integrante 2 – Apoyo y comunidad</a:t>
            </a:r>
            <a:endParaRPr b="1"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Char char="●"/>
            </a:pPr>
            <a:r>
              <a:rPr lang="es-CL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Donaciones</a:t>
            </a:r>
            <a:endParaRPr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Char char="●"/>
            </a:pPr>
            <a:r>
              <a:rPr lang="es-CL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Hogares Temporales</a:t>
            </a:r>
            <a:endParaRPr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Char char="●"/>
            </a:pPr>
            <a:r>
              <a:rPr lang="es-CL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Foro</a:t>
            </a:r>
            <a:endParaRPr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Char char="●"/>
            </a:pPr>
            <a:r>
              <a:rPr lang="es-CL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Veterinarias</a:t>
            </a:r>
            <a:endParaRPr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t/>
            </a:r>
            <a:endParaRPr sz="2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2" name="Google Shape;92;g3f9f68e02ae_0_19" title="agil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08875" y="3893988"/>
            <a:ext cx="2641651" cy="17704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f9f68e02ae_0_24"/>
          <p:cNvSpPr txBox="1"/>
          <p:nvPr>
            <p:ph type="ctrTitle"/>
          </p:nvPr>
        </p:nvSpPr>
        <p:spPr>
          <a:xfrm>
            <a:off x="3126450" y="812625"/>
            <a:ext cx="2891100" cy="105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518"/>
              </a:spcBef>
              <a:spcAft>
                <a:spcPts val="0"/>
              </a:spcAft>
              <a:buNone/>
            </a:pPr>
            <a:r>
              <a:rPr b="0" lang="es-CL" sz="3000">
                <a:solidFill>
                  <a:schemeClr val="lt1"/>
                </a:solidFill>
              </a:rPr>
              <a:t>Tecnologías</a:t>
            </a:r>
            <a:endParaRPr sz="3000">
              <a:solidFill>
                <a:schemeClr val="lt1"/>
              </a:solidFill>
            </a:endParaRPr>
          </a:p>
        </p:txBody>
      </p:sp>
      <p:sp>
        <p:nvSpPr>
          <p:cNvPr id="98" name="Google Shape;98;g3f9f68e02ae_0_24"/>
          <p:cNvSpPr txBox="1"/>
          <p:nvPr>
            <p:ph idx="1" type="subTitle"/>
          </p:nvPr>
        </p:nvSpPr>
        <p:spPr>
          <a:xfrm>
            <a:off x="1814000" y="2795250"/>
            <a:ext cx="6501300" cy="359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40"/>
              <a:buFont typeface="Arial"/>
              <a:buNone/>
            </a:pPr>
            <a:r>
              <a:rPr b="1" lang="es-CL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Backend</a:t>
            </a:r>
            <a:endParaRPr b="1"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Char char="●"/>
            </a:pPr>
            <a:r>
              <a:rPr lang="es-CL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Python</a:t>
            </a:r>
            <a:endParaRPr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Char char="●"/>
            </a:pPr>
            <a:r>
              <a:rPr lang="es-CL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Django</a:t>
            </a:r>
            <a:endParaRPr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Char char="●"/>
            </a:pPr>
            <a:r>
              <a:rPr lang="es-CL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PostgreSQL</a:t>
            </a:r>
            <a:endParaRPr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F0F6FC"/>
              </a:solidFill>
              <a:highlight>
                <a:srgbClr val="0D1117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L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Frontend</a:t>
            </a:r>
            <a:endParaRPr b="1"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Char char="●"/>
            </a:pPr>
            <a:r>
              <a:rPr lang="es-CL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Html y CSS</a:t>
            </a:r>
            <a:endParaRPr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Char char="●"/>
            </a:pPr>
            <a:r>
              <a:rPr lang="es-CL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Javascript</a:t>
            </a:r>
            <a:endParaRPr sz="2000">
              <a:solidFill>
                <a:srgbClr val="F0F6FC"/>
              </a:solidFill>
              <a:highlight>
                <a:srgbClr val="0D1117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9" name="Google Shape;99;g3f9f68e02ae_0_24" title="dJANGO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12000" y="2795250"/>
            <a:ext cx="1448876" cy="751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g3f9f68e02ae_0_24" title="PosGresSQL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89976" y="3645775"/>
            <a:ext cx="1898862" cy="751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g3f9f68e02ae_0_24" title="Css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67550" y="4765650"/>
            <a:ext cx="1050001" cy="1050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g3f9f68e02ae_0_24" title="html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108725" y="4907025"/>
            <a:ext cx="957901" cy="957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g3f9f68e02ae_0_24" title="javascript.JP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273525" y="4907025"/>
            <a:ext cx="863800" cy="957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g3f9f68e02ae_0_2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285250" y="2825990"/>
            <a:ext cx="690500" cy="6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f9f68e02ae_0_29"/>
          <p:cNvSpPr txBox="1"/>
          <p:nvPr>
            <p:ph type="ctrTitle"/>
          </p:nvPr>
        </p:nvSpPr>
        <p:spPr>
          <a:xfrm>
            <a:off x="2815650" y="614900"/>
            <a:ext cx="3512700" cy="97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518"/>
              </a:spcBef>
              <a:spcAft>
                <a:spcPts val="0"/>
              </a:spcAft>
              <a:buNone/>
            </a:pPr>
            <a:r>
              <a:rPr b="0" lang="es-CL" sz="3000">
                <a:solidFill>
                  <a:schemeClr val="lt1"/>
                </a:solidFill>
              </a:rPr>
              <a:t>Cronograma</a:t>
            </a:r>
            <a:endParaRPr sz="3000">
              <a:solidFill>
                <a:schemeClr val="lt1"/>
              </a:solidFill>
            </a:endParaRPr>
          </a:p>
        </p:txBody>
      </p:sp>
      <p:sp>
        <p:nvSpPr>
          <p:cNvPr id="110" name="Google Shape;110;g3f9f68e02ae_0_29"/>
          <p:cNvSpPr txBox="1"/>
          <p:nvPr>
            <p:ph idx="1" type="subTitle"/>
          </p:nvPr>
        </p:nvSpPr>
        <p:spPr>
          <a:xfrm>
            <a:off x="1258500" y="3191900"/>
            <a:ext cx="7437900" cy="327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Char char="●"/>
            </a:pPr>
            <a:r>
              <a:rPr lang="es-CL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Sprint 1: requerimientos. Product Backlog, arquitectura y modelo de datos.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Char char="●"/>
            </a:pPr>
            <a:r>
              <a:rPr lang="es-CL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Sprint 2: Módulo Refugio y  Módulo Donación.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Char char="●"/>
            </a:pPr>
            <a:r>
              <a:rPr lang="es-CL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Sprint 3: Módulo Adopción y Módulo Hogares Temporales.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Char char="●"/>
            </a:pPr>
            <a:r>
              <a:rPr lang="es-CL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Sprint 4: Módulo Información y Reportes, Foro y Veterinarias.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Char char="●"/>
            </a:pPr>
            <a:r>
              <a:rPr lang="es-CL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Sprint 5: Integración de Módulos y Pruebas cruzadas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Char char="●"/>
            </a:pPr>
            <a:r>
              <a:rPr lang="es-CL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Sprint 6: Pruebas finales, Despliegue y Cierre documentación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g3f9f68e02ae_0_29"/>
          <p:cNvSpPr txBox="1"/>
          <p:nvPr/>
        </p:nvSpPr>
        <p:spPr>
          <a:xfrm>
            <a:off x="1258500" y="2382075"/>
            <a:ext cx="6627000" cy="5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Desarrollo organizado en 6 Sprints de 2 semanas</a:t>
            </a:r>
            <a:endParaRPr sz="2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f9f68e02ae_0_34"/>
          <p:cNvSpPr txBox="1"/>
          <p:nvPr>
            <p:ph type="ctrTitle"/>
          </p:nvPr>
        </p:nvSpPr>
        <p:spPr>
          <a:xfrm>
            <a:off x="2941050" y="670875"/>
            <a:ext cx="3261900" cy="93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518"/>
              </a:spcBef>
              <a:spcAft>
                <a:spcPts val="0"/>
              </a:spcAft>
              <a:buNone/>
            </a:pPr>
            <a:r>
              <a:rPr b="0" lang="es-CL" sz="3000">
                <a:solidFill>
                  <a:schemeClr val="lt1"/>
                </a:solidFill>
              </a:rPr>
              <a:t>Comentario Final</a:t>
            </a:r>
            <a:endParaRPr b="0" sz="3000">
              <a:solidFill>
                <a:schemeClr val="lt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117" name="Google Shape;117;g3f9f68e02ae_0_34"/>
          <p:cNvSpPr txBox="1"/>
          <p:nvPr>
            <p:ph idx="1" type="subTitle"/>
          </p:nvPr>
        </p:nvSpPr>
        <p:spPr>
          <a:xfrm>
            <a:off x="1125200" y="2741025"/>
            <a:ext cx="5902200" cy="342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Char char="●"/>
            </a:pPr>
            <a:r>
              <a:rPr lang="es-CL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Huellas de Esperanza busca entregar a refugios y campañas una herramienta digital simple que centralice el registro, rescate, adopción y apoyo comunitario a animales en situación de calle.</a:t>
            </a:r>
            <a:endParaRPr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Char char="●"/>
            </a:pPr>
            <a:r>
              <a:rPr lang="es-CL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El proyecto es factible dentro de las 12 semanas de la asignatura gracias al enfoque ágil por sprints, que permite priorizar los módulos críticos y entregar valor de forma incremental.</a:t>
            </a:r>
            <a:endParaRPr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Char char="●"/>
            </a:pPr>
            <a:r>
              <a:rPr lang="es-CL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 futuro, el modelo puede replicarse en distintos refugios y escalar a una cobertura nacional sin requerir un rediseño estructural del sistema. </a:t>
            </a:r>
            <a:endParaRPr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aperback">
  <a:themeElements>
    <a:clrScheme name="Paperback">
      <a:dk1>
        <a:srgbClr val="000000"/>
      </a:dk1>
      <a:lt1>
        <a:srgbClr val="FFFFFF"/>
      </a:lt1>
      <a:dk2>
        <a:srgbClr val="00695C"/>
      </a:dk2>
      <a:lt2>
        <a:srgbClr val="26A69A"/>
      </a:lt2>
      <a:accent1>
        <a:srgbClr val="FFFBF0"/>
      </a:accent1>
      <a:accent2>
        <a:srgbClr val="B7B7B7"/>
      </a:accent2>
      <a:accent3>
        <a:srgbClr val="FB8C00"/>
      </a:accent3>
      <a:accent4>
        <a:srgbClr val="80CBC4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2012-07-03T12:45:11Z</dcterms:created>
  <dc:creator>Juan Pablo Mellado</dc:creator>
</cp:coreProperties>
</file>